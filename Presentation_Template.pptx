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  <p:embeddedFont>
      <p:font typeface="Roboto Slab" pitchFamily="2" charset="0"/>
      <p:regular r:id="rId13"/>
      <p:bold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E584E98-F22C-4E6F-8C55-6CFEC2229C57}">
  <a:tblStyle styleId="{2E584E98-F22C-4E6F-8C55-6CFEC2229C5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81408"/>
  </p:normalViewPr>
  <p:slideViewPr>
    <p:cSldViewPr snapToGrid="0">
      <p:cViewPr varScale="1">
        <p:scale>
          <a:sx n="58" d="100"/>
          <a:sy n="58" d="100"/>
        </p:scale>
        <p:origin x="1162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61" name="Google Shape;61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516fb96bf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67" name="Google Shape;67;g3516fb96bf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endParaRPr lang="en-GB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16fb96bfd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79" name="Google Shape;79;g3516fb96bfd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16fb96bfd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86" name="Google Shape;86;g3516fb96bfd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16fb96bfd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GB"/>
          </a:p>
        </p:txBody>
      </p:sp>
      <p:sp>
        <p:nvSpPr>
          <p:cNvPr id="92" name="Google Shape;92;g3516fb96bfd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endParaRPr lang="en-GB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accent5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>
            <a:spLocks noGrp="1"/>
          </p:cNvSpPr>
          <p:nvPr>
            <p:ph type="body" idx="1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1"/>
          <p:cNvSpPr txBox="1">
            <a:spLocks noGrp="1"/>
          </p:cNvSpPr>
          <p:nvPr>
            <p:ph type="title" hasCustomPrompt="1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rina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>
            <a:spLocks noGrp="1"/>
          </p:cNvSpPr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 dirty="0"/>
              <a:t>AI-Powered Collections Strategy</a:t>
            </a:r>
            <a:endParaRPr sz="3000" dirty="0"/>
          </a:p>
        </p:txBody>
      </p:sp>
      <p:sp>
        <p:nvSpPr>
          <p:cNvPr id="64" name="Google Shape;64;p13"/>
          <p:cNvSpPr txBox="1">
            <a:spLocks noGrp="1"/>
          </p:cNvSpPr>
          <p:nvPr>
            <p:ph type="subTitle" idx="1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Leveraging Agentic AI for Scalable, Fair, and Effective Debt Management at Geldium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 System Works</a:t>
            </a:r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>
            <a:off x="387901" y="1489824"/>
            <a:ext cx="4329874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600" dirty="0"/>
              <a:t>Customer Data Input: Income, credit score, repayment history, missed payments </a:t>
            </a:r>
          </a:p>
          <a:p>
            <a:r>
              <a:rPr lang="en-GB" sz="1600" dirty="0"/>
              <a:t>Decision Logic Engine: Random Forest AI model predicts delinquency risk </a:t>
            </a:r>
          </a:p>
          <a:p>
            <a:r>
              <a:rPr lang="en-GB" sz="1600" dirty="0"/>
              <a:t>Action Module: Sends reminders, support offers, or escalations </a:t>
            </a:r>
          </a:p>
          <a:p>
            <a:r>
              <a:rPr lang="en-GB" sz="1600" dirty="0"/>
              <a:t>Learning Loop: Improves predictions using repayment outcomes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FAB27F-6625-E288-4A4C-6D2754CC3F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547" y="1595842"/>
            <a:ext cx="3990147" cy="266009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Role of Agentic AI</a:t>
            </a:r>
            <a:endParaRPr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44A0BB6F-329D-1EBD-D0F2-6C9CC690FB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87900" y="1592907"/>
            <a:ext cx="7801943" cy="2640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b="1" dirty="0"/>
              <a:t>Autonomous</a:t>
            </a:r>
          </a:p>
          <a:p>
            <a:pPr marL="114300" indent="0">
              <a:buNone/>
            </a:pPr>
            <a:r>
              <a:rPr lang="en-GB" dirty="0"/>
              <a:t>    -  Send payment reminders </a:t>
            </a:r>
          </a:p>
          <a:p>
            <a:pPr marL="114300" indent="0">
              <a:buNone/>
            </a:pPr>
            <a:r>
              <a:rPr lang="en-GB" dirty="0"/>
              <a:t>    -  Identify high-risk customers </a:t>
            </a:r>
          </a:p>
          <a:p>
            <a:pPr marL="114300" indent="0">
              <a:buNone/>
            </a:pPr>
            <a:r>
              <a:rPr lang="en-GB" dirty="0"/>
              <a:t>    - Monitor repayment behaviour </a:t>
            </a:r>
          </a:p>
          <a:p>
            <a:r>
              <a:rPr lang="en-GB" b="1" dirty="0"/>
              <a:t>Human Oversight</a:t>
            </a:r>
          </a:p>
          <a:p>
            <a:pPr marL="114300" indent="0">
              <a:buNone/>
            </a:pPr>
            <a:r>
              <a:rPr lang="en-GB" dirty="0"/>
              <a:t>     - Review hardship cases </a:t>
            </a:r>
          </a:p>
          <a:p>
            <a:pPr marL="114300" indent="0">
              <a:buNone/>
            </a:pPr>
            <a:r>
              <a:rPr lang="en-GB" dirty="0"/>
              <a:t>     - Approve major financial actions </a:t>
            </a:r>
          </a:p>
          <a:p>
            <a:pPr marL="114300" indent="0">
              <a:buNone/>
            </a:pPr>
            <a:r>
              <a:rPr lang="en-GB" dirty="0"/>
              <a:t>     -  Monitor fairness and compliance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7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Responsible AI Guardrails</a:t>
            </a:r>
            <a:endParaRPr dirty="0"/>
          </a:p>
        </p:txBody>
      </p:sp>
      <p:sp>
        <p:nvSpPr>
          <p:cNvPr id="89" name="Google Shape;89;p17"/>
          <p:cNvSpPr txBox="1">
            <a:spLocks noGrp="1"/>
          </p:cNvSpPr>
          <p:nvPr>
            <p:ph type="body" idx="1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GB" sz="1600" b="1" dirty="0"/>
              <a:t>Fairness Checks:</a:t>
            </a:r>
            <a:r>
              <a:rPr lang="en-GB" sz="1600" dirty="0"/>
              <a:t> Monitor and reduce biased outcomes across customer groups </a:t>
            </a:r>
          </a:p>
          <a:p>
            <a:r>
              <a:rPr lang="en-GB" sz="1600" b="1" dirty="0"/>
              <a:t>Explainable AI:</a:t>
            </a:r>
            <a:r>
              <a:rPr lang="en-GB" sz="1600" dirty="0"/>
              <a:t> Clearly explain why customers are flagged as high-risk </a:t>
            </a:r>
          </a:p>
          <a:p>
            <a:r>
              <a:rPr lang="en-GB" sz="1600" b="1" dirty="0"/>
              <a:t>Regulatory Compliance:</a:t>
            </a:r>
            <a:r>
              <a:rPr lang="en-GB" sz="1600" dirty="0"/>
              <a:t> Ensure compliance with ECOA, GDPR, and financial regulations </a:t>
            </a:r>
          </a:p>
          <a:p>
            <a:r>
              <a:rPr lang="en-GB" sz="1600" b="1" dirty="0"/>
              <a:t>Human Oversight:</a:t>
            </a:r>
            <a:r>
              <a:rPr lang="en-GB" sz="1600" dirty="0"/>
              <a:t> Human review for critical or high-impact decisions </a:t>
            </a:r>
          </a:p>
          <a:p>
            <a:r>
              <a:rPr lang="en-GB" sz="1600" b="1" dirty="0"/>
              <a:t>Continuous Monitoring:</a:t>
            </a:r>
            <a:r>
              <a:rPr lang="en-GB" sz="1600" dirty="0"/>
              <a:t> Regular audits to track model fairness and performance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Expected Business Impact</a:t>
            </a: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9491E8-B8B0-58F9-BCDF-CA697B83AA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323" y="1602157"/>
            <a:ext cx="4624977" cy="308331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C1373-ECCB-8893-C88B-952E49559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Conclusion &amp; Key Takeaways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259607-54F3-CE30-20BB-21D4536BE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AI-powered collections can improve repayment outcomes and reduce delinquency risk </a:t>
            </a:r>
          </a:p>
          <a:p>
            <a:r>
              <a:rPr lang="en-GB" dirty="0"/>
              <a:t>Random Forest helps identify high-risk customers more accurately </a:t>
            </a:r>
          </a:p>
          <a:p>
            <a:r>
              <a:rPr lang="en-GB" dirty="0"/>
              <a:t>Agentic AI enables faster, scalable, and personalized collections actions </a:t>
            </a:r>
          </a:p>
          <a:p>
            <a:r>
              <a:rPr lang="en-GB" dirty="0"/>
              <a:t>Responsible AI guardrails ensure fairness, transparency, and compliance </a:t>
            </a:r>
          </a:p>
          <a:p>
            <a:r>
              <a:rPr lang="en-GB" dirty="0"/>
              <a:t>Human oversight remains essential for critical financial decisions </a:t>
            </a:r>
          </a:p>
          <a:p>
            <a:pPr marL="114300" indent="0">
              <a:buNone/>
            </a:pPr>
            <a:endParaRPr lang="en-GB" b="1" dirty="0"/>
          </a:p>
          <a:p>
            <a:pPr marL="114300" indent="0">
              <a:buNone/>
            </a:pPr>
            <a:r>
              <a:rPr lang="en-GB" b="1" dirty="0"/>
              <a:t>“The proposed system helps Geldium create a smarter, fairer, and more efficient collections strategy.”</a:t>
            </a:r>
            <a:endParaRPr lang="en-GB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219242"/>
      </p:ext>
    </p:extLst>
  </p:cSld>
  <p:clrMapOvr>
    <a:masterClrMapping/>
  </p:clrMapOvr>
</p:sld>
</file>

<file path=ppt/theme/theme1.xml><?xml version="1.0" encoding="utf-8"?>
<a:theme xmlns:a="http://schemas.openxmlformats.org/drawingml/2006/main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235</Words>
  <Application>Microsoft Office PowerPoint</Application>
  <PresentationFormat>On-screen Show (16:9)</PresentationFormat>
  <Paragraphs>31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Roboto Slab</vt:lpstr>
      <vt:lpstr>Roboto</vt:lpstr>
      <vt:lpstr>Marina</vt:lpstr>
      <vt:lpstr>AI-Powered Collections Strategy</vt:lpstr>
      <vt:lpstr>How the System Works</vt:lpstr>
      <vt:lpstr>Role of Agentic AI</vt:lpstr>
      <vt:lpstr>Responsible AI Guardrails</vt:lpstr>
      <vt:lpstr>Expected Business Impact</vt:lpstr>
      <vt:lpstr>Conclusion &amp; Key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Huda Shaikh</dc:creator>
  <cp:lastModifiedBy>Shaikh, Huda</cp:lastModifiedBy>
  <cp:revision>3</cp:revision>
  <dcterms:modified xsi:type="dcterms:W3CDTF">2026-05-22T12:34:02Z</dcterms:modified>
</cp:coreProperties>
</file>